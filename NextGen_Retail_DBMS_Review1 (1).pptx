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B68D1D-A0F5-EA18-A736-5D7334485904}" v="22" dt="2026-08-03T03:59:55.179"/>
    <p1510:client id="{F0FDD55A-98C5-2DDB-DEF3-AE72F0C25E9A}" v="335" dt="2026-08-03T04:27:22.336"/>
    <p1510:client id="{F45AFB94-6E19-D4FA-E884-B106A84DF80F}" v="6" dt="2026-08-03T05:38:42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880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  •  REVIEW 1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NextGen Online Retail and</a:t>
            </a:r>
            <a:endParaRPr lang="en-US" sz="400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 Platform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System for Managing Customers, Products, Inventory, Orders, Payments and Deliveries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6913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31520" y="5146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Harini 2510030374</a:t>
            </a:r>
            <a:endParaRPr lang="en-US" sz="2000" b="1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Varshitha Reddy 2510030400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731520" y="497205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731520" y="5486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of Computer Science &amp; Engineering]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2001520" y="1430021"/>
            <a:ext cx="9702800" cy="363778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Online retail businesses handle a large amount of related data</a:t>
            </a: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, such as customer details, product details, inventory, orders, payments, and deliveries.</a:t>
            </a:r>
            <a:endParaRPr lang="en-IN" sz="20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If this information is </a:t>
            </a:r>
            <a:r>
              <a:rPr lang="en-IN" sz="20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maintained manually or using separate files</a:t>
            </a: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, it can cause </a:t>
            </a:r>
            <a:r>
              <a:rPr lang="en-IN" sz="20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data redundancy, inconsistency, and update problems</a:t>
            </a: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.</a:t>
            </a:r>
            <a:endParaRPr lang="en-IN" sz="20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1">
                  <a:lumMod val="76000"/>
                </a:schemeClr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For example, an order is connected to a customer, products, payment, and delivery. So, these details need to remain</a:t>
            </a:r>
            <a:r>
              <a:rPr lang="en-IN" sz="20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properly synchronized.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b="1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Therefore, we need a </a:t>
            </a:r>
            <a:r>
              <a:rPr lang="en-IN" sz="2000" b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centralized relational database</a:t>
            </a:r>
            <a:r>
              <a:rPr lang="en-IN" sz="2000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 that can store the data, maintain relationships between tables, enforce constraints, and retrieve information efficiently.</a:t>
            </a:r>
            <a:endParaRPr lang="en-IN" sz="20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48840" y="2715768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2148840" y="3584448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532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relational database is required to model these entities, enforce constraints, and support reliable, scalable retail operations.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928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2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Design an </a:t>
            </a:r>
            <a:r>
              <a:rPr lang="en-IN" sz="1600" b="1">
                <a:solidFill>
                  <a:schemeClr val="accent1">
                    <a:lumMod val="76000"/>
                  </a:schemeClr>
                </a:solidFill>
              </a:rPr>
              <a:t>ER Model (To identify entities and relationships) </a:t>
            </a: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for the retail system</a:t>
            </a:r>
            <a:endParaRPr lang="en-US" sz="14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9718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971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2"/>
          </a:p>
        </p:txBody>
      </p:sp>
      <p:sp>
        <p:nvSpPr>
          <p:cNvPr id="11" name="Text 9"/>
          <p:cNvSpPr/>
          <p:nvPr/>
        </p:nvSpPr>
        <p:spPr>
          <a:xfrm>
            <a:off x="1371600" y="2770632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Develop a </a:t>
            </a:r>
            <a:r>
              <a:rPr lang="en-IN" sz="1600" b="1">
                <a:solidFill>
                  <a:schemeClr val="accent1">
                    <a:lumMod val="76000"/>
                  </a:schemeClr>
                </a:solidFill>
              </a:rPr>
              <a:t>Relational Database Schema</a:t>
            </a: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.</a:t>
            </a:r>
            <a:endParaRPr lang="en-US" sz="14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2"/>
          </a:p>
        </p:txBody>
      </p:sp>
      <p:sp>
        <p:nvSpPr>
          <p:cNvPr id="15" name="Text 13"/>
          <p:cNvSpPr/>
          <p:nvPr/>
        </p:nvSpPr>
        <p:spPr>
          <a:xfrm>
            <a:off x="1371600" y="3849624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Apply </a:t>
            </a:r>
            <a:r>
              <a:rPr lang="en-IN" sz="1600" b="1">
                <a:solidFill>
                  <a:schemeClr val="accent1">
                    <a:lumMod val="76000"/>
                  </a:schemeClr>
                </a:solidFill>
              </a:rPr>
              <a:t>Normalization</a:t>
            </a: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 to reduce data redundancy.</a:t>
            </a:r>
            <a:endParaRPr lang="en-US" sz="14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5129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5129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2"/>
          </a:p>
        </p:txBody>
      </p:sp>
      <p:sp>
        <p:nvSpPr>
          <p:cNvPr id="19" name="Text 17"/>
          <p:cNvSpPr/>
          <p:nvPr/>
        </p:nvSpPr>
        <p:spPr>
          <a:xfrm>
            <a:off x="1371600" y="4928616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Implement </a:t>
            </a:r>
            <a:r>
              <a:rPr lang="en-IN" sz="1600" b="1">
                <a:solidFill>
                  <a:schemeClr val="accent1">
                    <a:lumMod val="76000"/>
                  </a:schemeClr>
                </a:solidFill>
              </a:rPr>
              <a:t>Primary Keys</a:t>
            </a: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 and </a:t>
            </a:r>
            <a:r>
              <a:rPr lang="en-IN" sz="1600" b="1">
                <a:solidFill>
                  <a:schemeClr val="accent1">
                    <a:lumMod val="76000"/>
                  </a:schemeClr>
                </a:solidFill>
              </a:rPr>
              <a:t>Foreign Keys</a:t>
            </a:r>
            <a:r>
              <a:rPr lang="en-IN" sz="1600">
                <a:solidFill>
                  <a:schemeClr val="accent1">
                    <a:lumMod val="76000"/>
                  </a:schemeClr>
                </a:solidFill>
              </a:rPr>
              <a:t>.</a:t>
            </a:r>
            <a:endParaRPr lang="en-US" sz="1400">
              <a:solidFill>
                <a:schemeClr val="accent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18928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36792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2"/>
          </a:p>
        </p:txBody>
      </p:sp>
      <p:sp>
        <p:nvSpPr>
          <p:cNvPr id="23" name="Text 21"/>
          <p:cNvSpPr/>
          <p:nvPr/>
        </p:nvSpPr>
        <p:spPr>
          <a:xfrm>
            <a:off x="6995160" y="1691640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Contains tables like </a:t>
            </a:r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Customers, Products, Order, Payments, Deliveries ,Inventory, 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efficiently.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277063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29718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2971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32"/>
          </a:p>
        </p:txBody>
      </p:sp>
      <p:sp>
        <p:nvSpPr>
          <p:cNvPr id="28" name="Shape 26"/>
          <p:cNvSpPr/>
          <p:nvPr/>
        </p:nvSpPr>
        <p:spPr>
          <a:xfrm>
            <a:off x="6100762" y="384962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32"/>
          </a:p>
        </p:txBody>
      </p:sp>
      <p:sp>
        <p:nvSpPr>
          <p:cNvPr id="31" name="Text 29"/>
          <p:cNvSpPr/>
          <p:nvPr/>
        </p:nvSpPr>
        <p:spPr>
          <a:xfrm>
            <a:off x="6995160" y="2766155"/>
            <a:ext cx="4051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Perform </a:t>
            </a:r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CRUD Operations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using SQL queries.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72200" y="49286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36792" y="5129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5129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32"/>
          </a:p>
        </p:txBody>
      </p:sp>
      <p:sp>
        <p:nvSpPr>
          <p:cNvPr id="35" name="Text 33"/>
          <p:cNvSpPr/>
          <p:nvPr/>
        </p:nvSpPr>
        <p:spPr>
          <a:xfrm>
            <a:off x="6995160" y="4928616"/>
            <a:ext cx="44805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1600" err="1">
                <a:solidFill>
                  <a:schemeClr val="accent1">
                    <a:lumMod val="75000"/>
                  </a:schemeClr>
                </a:solidFill>
              </a:rPr>
              <a:t>Bulids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 </a:t>
            </a:r>
            <a:r>
              <a:rPr lang="en-IN" sz="1600" b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Responsive User Interface</a:t>
            </a:r>
            <a:endParaRPr lang="en-US" sz="14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054A02-31B4-7682-55C3-284F4B5B1741}"/>
              </a:ext>
            </a:extLst>
          </p:cNvPr>
          <p:cNvSpPr txBox="1"/>
          <p:nvPr/>
        </p:nvSpPr>
        <p:spPr>
          <a:xfrm>
            <a:off x="6963604" y="3959696"/>
            <a:ext cx="4403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>
                <a:solidFill>
                  <a:schemeClr val="accent1">
                    <a:lumMod val="75000"/>
                  </a:schemeClr>
                </a:solidFill>
                <a:ea typeface="Calibri"/>
                <a:cs typeface="Calibri"/>
              </a:rPr>
              <a:t>Generate </a:t>
            </a:r>
            <a:r>
              <a:rPr lang="en-IN" b="1">
                <a:solidFill>
                  <a:schemeClr val="accent1">
                    <a:lumMod val="75000"/>
                  </a:schemeClr>
                </a:solidFill>
                <a:ea typeface="Calibri"/>
                <a:cs typeface="Calibri"/>
              </a:rPr>
              <a:t>Sales, Inventory, and Order Reports</a:t>
            </a:r>
            <a:r>
              <a:rPr lang="en-IN">
                <a:solidFill>
                  <a:schemeClr val="accent1">
                    <a:lumMod val="75000"/>
                  </a:schemeClr>
                </a:solidFill>
                <a:ea typeface="Calibri"/>
                <a:cs typeface="Calibri"/>
              </a:rPr>
              <a:t> for analysis</a:t>
            </a:r>
            <a:endParaRPr lang="en-US">
              <a:solidFill>
                <a:schemeClr val="accent1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technologies and concepts applied in this project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273048" y="214884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Database: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MySQL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2384" y="1842516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4088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1408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998720" y="2185416"/>
            <a:ext cx="31699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Tool: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MySQL Workbench ,</a:t>
            </a:r>
          </a:p>
          <a:p>
            <a:r>
              <a:rPr lang="en-IN" sz="1600">
                <a:solidFill>
                  <a:schemeClr val="accent1">
                    <a:lumMod val="75000"/>
                  </a:schemeClr>
                </a:solidFill>
                <a:ea typeface="Calibri"/>
                <a:cs typeface="Calibri"/>
              </a:rPr>
              <a:t>Vs code</a:t>
            </a:r>
            <a:endParaRPr lang="en-IN" sz="1600" dirty="0">
              <a:solidFill>
                <a:schemeClr val="accent1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7568" y="192024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9808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36980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969248" y="221742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Database Model: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Relational Database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243584" y="3597656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Design: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ER Diagram (Entity Relationship Model)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12920" y="324612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14088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14088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071872" y="358902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Normalization: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Reduces Data Redundancy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68640" y="3246120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69808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369808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827008" y="3538728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Keys: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Primary Key &amp; Foreign Key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2121" y="4646962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9924" y="4711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9924" y="4722622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DB</a:t>
            </a:r>
            <a:endParaRPr lang="en-US" sz="11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4426" y="4882801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Language: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SQL (Structured Query Language)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36574" y="4599432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4120" y="4794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14120" y="4788694"/>
            <a:ext cx="457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DB</a:t>
            </a:r>
            <a:endParaRPr lang="en-US" sz="11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80019" y="4837843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>
                <a:solidFill>
                  <a:schemeClr val="accent1">
                    <a:lumMod val="75000"/>
                  </a:schemeClr>
                </a:solidFill>
              </a:rPr>
              <a:t>Operations:</a:t>
            </a:r>
            <a:r>
              <a:rPr lang="en-IN" sz="1600">
                <a:solidFill>
                  <a:schemeClr val="accent1">
                    <a:lumMod val="75000"/>
                  </a:schemeClr>
                </a:solidFill>
              </a:rPr>
              <a:t> CRUD, Joins &amp; Report Generation</a:t>
            </a:r>
            <a:endParaRPr lang="en-US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428A43AD-2615-C7D5-5DDD-3309F78DF3D7}"/>
              </a:ext>
            </a:extLst>
          </p:cNvPr>
          <p:cNvSpPr/>
          <p:nvPr/>
        </p:nvSpPr>
        <p:spPr>
          <a:xfrm>
            <a:off x="8229918" y="4599432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1C2A3A">
                <a:alpha val="12000"/>
              </a:srgbClr>
            </a:outerShdw>
          </a:effectLst>
        </p:spPr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94A115-80A5-AADA-5DCB-CCC8DA790061}"/>
              </a:ext>
            </a:extLst>
          </p:cNvPr>
          <p:cNvSpPr txBox="1"/>
          <p:nvPr/>
        </p:nvSpPr>
        <p:spPr>
          <a:xfrm>
            <a:off x="8370094" y="4893469"/>
            <a:ext cx="440532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0000"/>
                </a:solidFill>
                <a:latin typeface="Calibri"/>
              </a:rPr>
              <a:t>DB</a:t>
            </a:r>
            <a:r>
              <a:rPr sz="11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08472F56-90CE-C03D-80EA-072980D08EC7}"/>
              </a:ext>
            </a:extLst>
          </p:cNvPr>
          <p:cNvSpPr/>
          <p:nvPr/>
        </p:nvSpPr>
        <p:spPr>
          <a:xfrm>
            <a:off x="8383651" y="48064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 lIns="91440" tIns="45720" rIns="91440" bIns="45720" anchor="t"/>
          <a:lstStyle/>
          <a:p>
            <a:pPr algn="ctr"/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IN" sz="900">
                <a:solidFill>
                  <a:schemeClr val="bg1"/>
                </a:solidFill>
                <a:ea typeface="Calibri"/>
                <a:cs typeface="Calibri"/>
              </a:rPr>
              <a:t>DB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46CE85-5052-4FA1-CFEF-EB2F468A6DB3}"/>
              </a:ext>
            </a:extLst>
          </p:cNvPr>
          <p:cNvSpPr txBox="1"/>
          <p:nvPr/>
        </p:nvSpPr>
        <p:spPr>
          <a:xfrm>
            <a:off x="9148264" y="4813079"/>
            <a:ext cx="23894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Frontend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 React, java script</a:t>
            </a:r>
            <a:endParaRPr lang="en-US" sz="200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  <a:p>
            <a:pPr algn="l"/>
            <a:endParaRPr lang="en-US" sz="2000">
              <a:solidFill>
                <a:schemeClr val="accent5">
                  <a:lumMod val="49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023360" y="659384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86232" y="1920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/>
          </a:p>
        </p:txBody>
      </p:sp>
      <p:sp>
        <p:nvSpPr>
          <p:cNvPr id="6" name="Text 4"/>
          <p:cNvSpPr/>
          <p:nvPr/>
        </p:nvSpPr>
        <p:spPr>
          <a:xfrm>
            <a:off x="1234440" y="1720596"/>
            <a:ext cx="10379336" cy="903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</a:rPr>
              <a:t>Centralized and organized retail database</a:t>
            </a:r>
            <a:r>
              <a:rPr lang="en-IN" sz="2000">
                <a:solidFill>
                  <a:schemeClr val="accent1">
                    <a:lumMod val="75000"/>
                  </a:schemeClr>
                </a:solidFill>
              </a:rPr>
              <a:t> - </a:t>
            </a:r>
            <a:r>
              <a:rPr lang="en-IN" sz="20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storing all retail information in one well-organized database.</a:t>
            </a:r>
            <a:endParaRPr lang="en-US" sz="20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71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/>
          </a:p>
        </p:txBody>
      </p:sp>
      <p:sp>
        <p:nvSpPr>
          <p:cNvPr id="9" name="Text 7"/>
          <p:cNvSpPr/>
          <p:nvPr/>
        </p:nvSpPr>
        <p:spPr>
          <a:xfrm>
            <a:off x="1234440" y="2770632"/>
            <a:ext cx="8935878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 b="1">
                <a:solidFill>
                  <a:schemeClr val="accent1">
                    <a:lumMod val="75000"/>
                  </a:schemeClr>
                </a:solidFill>
              </a:rPr>
              <a:t>Efficient inventory and order management and Secure Payment and delivery tracking</a:t>
            </a:r>
            <a:endParaRPr lang="en-US" b="1">
              <a:solidFill>
                <a:schemeClr val="accent1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/>
          </a:p>
        </p:txBody>
      </p:sp>
      <p:sp>
        <p:nvSpPr>
          <p:cNvPr id="12" name="Text 10"/>
          <p:cNvSpPr/>
          <p:nvPr/>
        </p:nvSpPr>
        <p:spPr>
          <a:xfrm>
            <a:off x="1234440" y="3849624"/>
            <a:ext cx="7697628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>
                <a:solidFill>
                  <a:schemeClr val="accent1">
                    <a:lumMod val="75000"/>
                  </a:schemeClr>
                </a:solidFill>
              </a:rPr>
              <a:t>Reduced data</a:t>
            </a:r>
            <a:r>
              <a:rPr lang="en-IN" b="1">
                <a:solidFill>
                  <a:schemeClr val="accent1">
                    <a:lumMod val="75000"/>
                  </a:schemeClr>
                </a:solidFill>
              </a:rPr>
              <a:t> redundancy through normalization</a:t>
            </a:r>
            <a:endParaRPr lang="en-US" b="1">
              <a:solidFill>
                <a:schemeClr val="accent1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1297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129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/>
          </a:p>
        </p:txBody>
      </p:sp>
      <p:sp>
        <p:nvSpPr>
          <p:cNvPr id="15" name="Text 13"/>
          <p:cNvSpPr/>
          <p:nvPr/>
        </p:nvSpPr>
        <p:spPr>
          <a:xfrm>
            <a:off x="1234440" y="4928616"/>
            <a:ext cx="8423909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IN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Build a </a:t>
            </a:r>
            <a:r>
              <a:rPr lang="en-IN" b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responsive web interface</a:t>
            </a:r>
            <a:r>
              <a:rPr lang="en-IN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for online retail management</a:t>
            </a: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0" y="27706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858000" y="384962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172200" y="5129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3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32"/>
          </a:p>
        </p:txBody>
      </p:sp>
      <p:sp>
        <p:nvSpPr>
          <p:cNvPr id="27" name="Text 25"/>
          <p:cNvSpPr/>
          <p:nvPr/>
        </p:nvSpPr>
        <p:spPr>
          <a:xfrm>
            <a:off x="4632960" y="256946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548640" y="6263640"/>
            <a:ext cx="11109960" cy="0"/>
          </a:xfrm>
          <a:prstGeom prst="line">
            <a:avLst/>
          </a:prstGeom>
          <a:noFill/>
          <a:ln w="12700">
            <a:solidFill>
              <a:srgbClr val="E3E9E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93395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339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8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855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9855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8"/>
          </a:p>
        </p:txBody>
      </p:sp>
      <p:sp>
        <p:nvSpPr>
          <p:cNvPr id="11" name="Text 9"/>
          <p:cNvSpPr/>
          <p:nvPr/>
        </p:nvSpPr>
        <p:spPr>
          <a:xfrm>
            <a:off x="1051560" y="277063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03707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037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8"/>
          </a:p>
        </p:txBody>
      </p:sp>
      <p:sp>
        <p:nvSpPr>
          <p:cNvPr id="15" name="Text 13"/>
          <p:cNvSpPr/>
          <p:nvPr/>
        </p:nvSpPr>
        <p:spPr>
          <a:xfrm>
            <a:off x="1051560" y="382219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4773168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508863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0886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8"/>
          </a:p>
        </p:txBody>
      </p:sp>
      <p:sp>
        <p:nvSpPr>
          <p:cNvPr id="19" name="Text 17"/>
          <p:cNvSpPr/>
          <p:nvPr/>
        </p:nvSpPr>
        <p:spPr>
          <a:xfrm>
            <a:off x="1051560" y="487375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3246120" y="169164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93395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19339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8"/>
          </a:p>
        </p:txBody>
      </p:sp>
      <p:sp>
        <p:nvSpPr>
          <p:cNvPr id="23" name="Text 21"/>
          <p:cNvSpPr/>
          <p:nvPr/>
        </p:nvSpPr>
        <p:spPr>
          <a:xfrm>
            <a:off x="3840480" y="171907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Management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29855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9855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8"/>
          </a:p>
        </p:txBody>
      </p:sp>
      <p:sp>
        <p:nvSpPr>
          <p:cNvPr id="27" name="Text 25"/>
          <p:cNvSpPr/>
          <p:nvPr/>
        </p:nvSpPr>
        <p:spPr>
          <a:xfrm>
            <a:off x="3840480" y="277063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Management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3246120" y="379476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403707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40370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8"/>
          </a:p>
        </p:txBody>
      </p:sp>
      <p:sp>
        <p:nvSpPr>
          <p:cNvPr id="31" name="Text 29"/>
          <p:cNvSpPr/>
          <p:nvPr/>
        </p:nvSpPr>
        <p:spPr>
          <a:xfrm>
            <a:off x="3840480" y="382219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</a:t>
            </a:r>
            <a:endParaRPr lang="en-US" sz="1400"/>
          </a:p>
        </p:txBody>
      </p:sp>
      <p:sp>
        <p:nvSpPr>
          <p:cNvPr id="32" name="Shape 30"/>
          <p:cNvSpPr/>
          <p:nvPr/>
        </p:nvSpPr>
        <p:spPr>
          <a:xfrm>
            <a:off x="3246120" y="4846320"/>
            <a:ext cx="260604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508863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3355848" y="50886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68"/>
          </a:p>
        </p:txBody>
      </p:sp>
      <p:sp>
        <p:nvSpPr>
          <p:cNvPr id="35" name="Text 33"/>
          <p:cNvSpPr/>
          <p:nvPr/>
        </p:nvSpPr>
        <p:spPr>
          <a:xfrm>
            <a:off x="3840480" y="4873752"/>
            <a:ext cx="19202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6492240" y="1554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OVERVIEW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6858000" y="19202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8183880" y="2377440"/>
            <a:ext cx="0" cy="25603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858000" y="263347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8183880" y="3090672"/>
            <a:ext cx="0" cy="25603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58000" y="334670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33467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8183880" y="3803904"/>
            <a:ext cx="0" cy="25603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58000" y="405993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40599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8183880" y="4517136"/>
            <a:ext cx="0" cy="256032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858000" y="477316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4773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9509760" y="2862072"/>
            <a:ext cx="45720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966960" y="2862072"/>
            <a:ext cx="0" cy="82296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0" y="2862072"/>
            <a:ext cx="13716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6960" y="277063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55" name="Text 53"/>
          <p:cNvSpPr/>
          <p:nvPr/>
        </p:nvSpPr>
        <p:spPr>
          <a:xfrm>
            <a:off x="9966960" y="27706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9966960" y="3502152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57" name="Text 55"/>
          <p:cNvSpPr/>
          <p:nvPr/>
        </p:nvSpPr>
        <p:spPr>
          <a:xfrm>
            <a:off x="9966960" y="35021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9966960" y="3227832"/>
            <a:ext cx="13716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108960" cy="31089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Timeline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Project Schedule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12"/>
          </a:p>
        </p:txBody>
      </p:sp>
      <p:sp>
        <p:nvSpPr>
          <p:cNvPr id="9" name="Shape 7"/>
          <p:cNvSpPr/>
          <p:nvPr/>
        </p:nvSpPr>
        <p:spPr>
          <a:xfrm>
            <a:off x="758952" y="2249424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143000" y="18013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Requirement Analysis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32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12"/>
          </a:p>
        </p:txBody>
      </p:sp>
      <p:sp>
        <p:nvSpPr>
          <p:cNvPr id="13" name="Shape 11"/>
          <p:cNvSpPr/>
          <p:nvPr/>
        </p:nvSpPr>
        <p:spPr>
          <a:xfrm>
            <a:off x="758952" y="2852928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143000" y="240487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Entity &amp; Relationship Identification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12"/>
          </a:p>
        </p:txBody>
      </p:sp>
      <p:sp>
        <p:nvSpPr>
          <p:cNvPr id="17" name="Shape 15"/>
          <p:cNvSpPr/>
          <p:nvPr/>
        </p:nvSpPr>
        <p:spPr>
          <a:xfrm>
            <a:off x="758952" y="3456432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143000" y="3008376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 Diagram &amp; Relational Schema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39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2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&amp; Table Creation</a:t>
            </a:r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18288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12"/>
          </a:p>
        </p:txBody>
      </p:sp>
      <p:sp>
        <p:nvSpPr>
          <p:cNvPr id="24" name="Shape 22"/>
          <p:cNvSpPr/>
          <p:nvPr/>
        </p:nvSpPr>
        <p:spPr>
          <a:xfrm>
            <a:off x="6565392" y="2249424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949440" y="1801368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 Data &amp; Constraints</a:t>
            </a:r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55080" y="24323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432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2"/>
          </a:p>
        </p:txBody>
      </p:sp>
      <p:sp>
        <p:nvSpPr>
          <p:cNvPr id="28" name="Shape 26"/>
          <p:cNvSpPr/>
          <p:nvPr/>
        </p:nvSpPr>
        <p:spPr>
          <a:xfrm>
            <a:off x="6565392" y="2852928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949440" y="2404872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Queries, Joins &amp; Reports</a:t>
            </a:r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55080" y="303580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2"/>
          </a:p>
        </p:txBody>
      </p:sp>
      <p:sp>
        <p:nvSpPr>
          <p:cNvPr id="32" name="Shape 30"/>
          <p:cNvSpPr/>
          <p:nvPr/>
        </p:nvSpPr>
        <p:spPr>
          <a:xfrm>
            <a:off x="6565392" y="3456432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949440" y="3008376"/>
            <a:ext cx="470916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Testing &amp; Normalization and 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Responsive User Interface</a:t>
            </a:r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55080" y="363931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639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12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12"/>
          </a:p>
        </p:txBody>
      </p:sp>
      <p:sp>
        <p:nvSpPr>
          <p:cNvPr id="36" name="Text 34"/>
          <p:cNvSpPr/>
          <p:nvPr/>
        </p:nvSpPr>
        <p:spPr>
          <a:xfrm>
            <a:off x="6949440" y="3611880"/>
            <a:ext cx="4709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Documentation &amp; Final Presentation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5</cp:revision>
  <dcterms:created xsi:type="dcterms:W3CDTF">2026-08-02T16:36:59Z</dcterms:created>
  <dcterms:modified xsi:type="dcterms:W3CDTF">2026-08-03T15:13:25Z</dcterms:modified>
</cp:coreProperties>
</file>