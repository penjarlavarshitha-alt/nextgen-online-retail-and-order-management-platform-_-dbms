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94360"/>
            <a:ext cx="1188720" cy="1188720"/>
          </a:xfrm>
          <a:prstGeom prst="ellipse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325880"/>
            <a:ext cx="594360" cy="594360"/>
          </a:xfrm>
          <a:prstGeom prst="ellipse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5212080"/>
            <a:ext cx="1554480" cy="1554480"/>
          </a:xfrm>
          <a:prstGeom prst="ellipse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NEXTGEN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72237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DDBF4"/>
                </a:solidFill>
                <a:latin typeface="Aptos"/>
              </a:rPr>
              <a:t>ONLINE RETAIL &amp; ORDER
MANAGEMENT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1508760" cy="34747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98648"/>
            <a:ext cx="14173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DBMS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React + TanStack Router  |  Express.js  | 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7223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ECAE1"/>
                </a:solidFill>
                <a:latin typeface="Aptos"/>
              </a:rPr>
              <a:t>A secure, connected retail platform that manages data from customer and product records to orders, payments, inventory, delivery and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331720"/>
            <a:ext cx="1325880" cy="658368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404872"/>
            <a:ext cx="117957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331720"/>
            <a:ext cx="1325880" cy="658368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7232" y="2404872"/>
            <a:ext cx="117957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37560"/>
            <a:ext cx="1325880" cy="658368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3410712"/>
            <a:ext cx="117957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337560"/>
            <a:ext cx="1325880" cy="658368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3410712"/>
            <a:ext cx="117957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82912" y="2660904"/>
            <a:ext cx="182880" cy="0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97112" y="3017520"/>
            <a:ext cx="0" cy="292608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42448" y="3017520"/>
            <a:ext cx="0" cy="292608"/>
          </a:xfrm>
          <a:prstGeom prst="line">
            <a:avLst/>
          </a:prstGeom>
          <a:ln w="19050">
            <a:solidFill>
              <a:srgbClr val="AAB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1081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0B0CD"/>
                </a:solidFill>
                <a:latin typeface="Aptos"/>
              </a:rPr>
              <a:t>College DBMS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8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1. Problem, Objective &amp;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What the system does and why it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337560" cy="1508760"/>
          </a:xfrm>
          <a:prstGeom prst="roundRect">
            <a:avLst/>
          </a:prstGeom>
          <a:solidFill>
            <a:srgbClr val="E8EFFC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371600"/>
            <a:ext cx="54864" cy="1234439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288036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Customer, product, stock, order and delivery information can become difficult to manage when records are separate or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34440"/>
            <a:ext cx="3337560" cy="1508760"/>
          </a:xfrm>
          <a:prstGeom prst="roundRect">
            <a:avLst/>
          </a:prstGeom>
          <a:solidFill>
            <a:srgbClr val="E6F7F8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7136" y="1371600"/>
            <a:ext cx="54864" cy="1234439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39903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1801368"/>
            <a:ext cx="288036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Bring retail information into one connected database and make the complete order process easier to manage.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234440"/>
            <a:ext cx="3337560" cy="1508760"/>
          </a:xfrm>
          <a:prstGeom prst="roundRect">
            <a:avLst/>
          </a:prstGeom>
          <a:solidFill>
            <a:srgbClr val="EFEAFA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0183" y="1371600"/>
            <a:ext cx="54864" cy="1234439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39903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DBMS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1801368"/>
            <a:ext cx="288036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Use normalization, keys, constraints, relationships and a trigger to maintain reliable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10 CORE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920240" cy="34747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301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611880"/>
            <a:ext cx="1920240" cy="34747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6301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611880"/>
            <a:ext cx="1920240" cy="34747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6301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611880"/>
            <a:ext cx="1920240" cy="34747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6301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3611880"/>
            <a:ext cx="1920240" cy="34747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36301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572000"/>
            <a:ext cx="1920240" cy="34747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902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Orders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572000"/>
            <a:ext cx="1920240" cy="34747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45902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Payments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572000"/>
            <a:ext cx="1920240" cy="34747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45902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4572000"/>
            <a:ext cx="1920240" cy="34747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45902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Reviews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572000"/>
            <a:ext cx="1920240" cy="34747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5902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38" name="Oval 37"/>
          <p:cNvSpPr/>
          <p:nvPr/>
        </p:nvSpPr>
        <p:spPr>
          <a:xfrm>
            <a:off x="9921240" y="4800600"/>
            <a:ext cx="731520" cy="731520"/>
          </a:xfrm>
          <a:prstGeom prst="ellipse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4937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0" y="5166360"/>
            <a:ext cx="731520" cy="0"/>
          </a:xfrm>
          <a:prstGeom prst="line">
            <a:avLst/>
          </a:prstGeom>
          <a:ln w="25400">
            <a:solidFill>
              <a:srgbClr val="2C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01000" y="5577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56F80"/>
                </a:solidFill>
                <a:latin typeface="Aptos"/>
              </a:rPr>
              <a:t>Centralized PostgreSQL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2. Architecture &amp; Secure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Frontend → API → database, with protected admin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880360" cy="914400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399032"/>
            <a:ext cx="27340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REACT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947672"/>
            <a:ext cx="2734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TanStack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25880"/>
            <a:ext cx="2880360" cy="91440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399032"/>
            <a:ext cx="27340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EXPRESS.JS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947672"/>
            <a:ext cx="2734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Business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325880"/>
            <a:ext cx="2880360" cy="914400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9952" y="1399032"/>
            <a:ext cx="27340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947672"/>
            <a:ext cx="2734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Structured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1783080"/>
            <a:ext cx="1005840" cy="0"/>
          </a:xfrm>
          <a:prstGeom prst="line">
            <a:avLst/>
          </a:prstGeom>
          <a:ln w="25400">
            <a:solidFill>
              <a:srgbClr val="2C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1783080"/>
            <a:ext cx="1005840" cy="0"/>
          </a:xfrm>
          <a:prstGeom prst="line">
            <a:avLst/>
          </a:prstGeom>
          <a:ln w="25400">
            <a:solidFill>
              <a:srgbClr val="2C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7889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ADMIN LOGIN FLOW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F3E"/>
                </a:solidFill>
                <a:latin typeface="Aptos"/>
              </a:rPr>
              <a:t>Email + Password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3593592"/>
            <a:ext cx="393192" cy="0"/>
          </a:xfrm>
          <a:prstGeom prst="line">
            <a:avLst/>
          </a:prstGeom>
          <a:ln w="1905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474720" y="3337560"/>
            <a:ext cx="502920" cy="502920"/>
          </a:xfrm>
          <a:prstGeom prst="ellipse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37413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337413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F3E"/>
                </a:solidFill>
                <a:latin typeface="Aptos"/>
              </a:rPr>
              <a:t>Verify credentials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06440" y="3593592"/>
            <a:ext cx="393191" cy="0"/>
          </a:xfrm>
          <a:prstGeom prst="line">
            <a:avLst/>
          </a:prstGeom>
          <a:ln w="1905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263640" y="3337560"/>
            <a:ext cx="502920" cy="502920"/>
          </a:xfrm>
          <a:prstGeom prst="ellipse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37413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7" y="337413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F3E"/>
                </a:solidFill>
                <a:latin typeface="Aptos"/>
              </a:rPr>
              <a:t>JWT token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59" y="3593592"/>
            <a:ext cx="393193" cy="0"/>
          </a:xfrm>
          <a:prstGeom prst="line">
            <a:avLst/>
          </a:prstGeom>
          <a:ln w="1905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52559" y="3337560"/>
            <a:ext cx="502920" cy="502920"/>
          </a:xfrm>
          <a:prstGeom prst="ellipse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59" y="337413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374136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72F3E"/>
                </a:solidFill>
                <a:latin typeface="Aptos"/>
              </a:rPr>
              <a:t>Dashboard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61772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" y="4754880"/>
            <a:ext cx="54864" cy="68580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4782312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C32"/>
                </a:solidFill>
                <a:latin typeface="Aptos"/>
              </a:rPr>
              <a:t>bcryptjs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184648"/>
            <a:ext cx="26517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72F3E"/>
                </a:solidFill>
                <a:latin typeface="Aptos"/>
              </a:rPr>
              <a:t>Used for secure password hashing / verification.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61772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36008" y="4754880"/>
            <a:ext cx="54864" cy="685800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8888" y="4782312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C32"/>
                </a:solidFill>
                <a:latin typeface="Aptos"/>
              </a:rPr>
              <a:t>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888" y="5184648"/>
            <a:ext cx="26517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72F3E"/>
                </a:solidFill>
                <a:latin typeface="Aptos"/>
              </a:rPr>
              <a:t>Creates a token for protected dashboard access.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61772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47888" y="4754880"/>
            <a:ext cx="54864" cy="68580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4782312"/>
            <a:ext cx="2651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C32"/>
                </a:solidFill>
                <a:latin typeface="Aptos"/>
              </a:rPr>
              <a:t>Protected Routes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5184648"/>
            <a:ext cx="265176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72F3E"/>
                </a:solidFill>
                <a:latin typeface="Aptos"/>
              </a:rPr>
              <a:t>Without valid authentication, dashboard access is blocked.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3. Database Design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Relational tables, relationships and rules that protect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371600"/>
            <a:ext cx="54864" cy="71323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990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0136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customer_id
email UNIQUE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23444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71416" y="1371600"/>
            <a:ext cx="54864" cy="71323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3990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80136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category_id
name UNIQUE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23444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0183" y="1371600"/>
            <a:ext cx="54864" cy="71323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13990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180136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product_id
FK category_id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6888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2606040"/>
            <a:ext cx="54864" cy="71323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63347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0358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cart_id
FK customer_id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46888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71416" y="2606040"/>
            <a:ext cx="54864" cy="71323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263347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30358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order_id
FK customer_id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0456" y="246888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0183" y="2606040"/>
            <a:ext cx="54864" cy="71323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4" y="263347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ORDER_ITEMS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30358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item_id
FK order_id + product_id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70332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" y="3840480"/>
            <a:ext cx="54864" cy="71323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386791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27024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payment_id
FK order_id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1688" y="370332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71416" y="3840480"/>
            <a:ext cx="54864" cy="71323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4296" y="386791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4296" y="427024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delivery_id
FK order_id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0456" y="3703320"/>
            <a:ext cx="3474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30183" y="3840480"/>
            <a:ext cx="54864" cy="71323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386791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4" y="427024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272F3E"/>
                </a:solidFill>
                <a:latin typeface="Aptos"/>
              </a:rPr>
              <a:t>PK review_id
FK customer_id + product_id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1663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DATA INTEGRITY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20" y="5093208"/>
            <a:ext cx="822960" cy="34747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39" y="51114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56F80"/>
                </a:solidFill>
                <a:latin typeface="Aptos"/>
              </a:rPr>
              <a:t>Unique identity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5093208"/>
            <a:ext cx="822960" cy="34747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59" y="51114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56F80"/>
                </a:solidFill>
                <a:latin typeface="Aptos"/>
              </a:rPr>
              <a:t>Valid relationship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0759" y="5093208"/>
            <a:ext cx="822960" cy="34747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79" y="51114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UNIQUE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59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56F80"/>
                </a:solidFill>
                <a:latin typeface="Aptos"/>
              </a:rPr>
              <a:t>No duplicates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5093208"/>
            <a:ext cx="822960" cy="34747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51114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56F80"/>
                </a:solidFill>
                <a:latin typeface="Aptos"/>
              </a:rPr>
              <a:t>Valid values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9800" y="5093208"/>
            <a:ext cx="822960" cy="34747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511149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ON DELETE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55046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56F80"/>
                </a:solidFill>
                <a:latin typeface="Aptos"/>
              </a:rPr>
              <a:t>Controlled deletion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4. Normalization &amp; Inventory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Two important DBMS concepts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NORMALIZATION → 3NF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09928"/>
            <a:ext cx="54864" cy="914400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1NF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19659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72F3E"/>
                </a:solidFill>
                <a:latin typeface="Aptos"/>
              </a:rPr>
              <a:t>Atomic values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167128"/>
            <a:ext cx="274320" cy="0"/>
          </a:xfrm>
          <a:prstGeom prst="line">
            <a:avLst/>
          </a:prstGeom>
          <a:ln w="1905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572768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1709928"/>
            <a:ext cx="54864" cy="91440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73736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2NF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139696"/>
            <a:ext cx="19659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72F3E"/>
                </a:solidFill>
                <a:latin typeface="Aptos"/>
              </a:rPr>
              <a:t>No partial dependency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2167128"/>
            <a:ext cx="274320" cy="0"/>
          </a:xfrm>
          <a:prstGeom prst="line">
            <a:avLst/>
          </a:prstGeom>
          <a:ln w="1905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572768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1709928"/>
            <a:ext cx="54864" cy="91440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3NF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139696"/>
            <a:ext cx="19659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72F3E"/>
                </a:solidFill>
                <a:latin typeface="Aptos"/>
              </a:rPr>
              <a:t>No transitive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9923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21C32"/>
                </a:solidFill>
                <a:latin typeface="Aptos"/>
              </a:rPr>
              <a:t>Result: less redundancy • fewer update anomalies • cleaner relational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INVENTORY TRIGGER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2103120" cy="868680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87952"/>
            <a:ext cx="1956815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ORDER ITEM
INSERTED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4553712"/>
            <a:ext cx="1051559" cy="0"/>
          </a:xfrm>
          <a:prstGeom prst="line">
            <a:avLst/>
          </a:prstGeom>
          <a:ln w="25400">
            <a:solidFill>
              <a:srgbClr val="2C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69080" y="4114800"/>
            <a:ext cx="2103120" cy="86868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4187952"/>
            <a:ext cx="1956815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TRIGGER
FIRES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553712"/>
            <a:ext cx="1051560" cy="0"/>
          </a:xfrm>
          <a:prstGeom prst="line">
            <a:avLst/>
          </a:prstGeom>
          <a:ln w="25400">
            <a:solidFill>
              <a:srgbClr val="2C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06640" y="4114800"/>
            <a:ext cx="2423160" cy="86868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4187952"/>
            <a:ext cx="2276856" cy="722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PRODUCT STOCK
DECREASES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349240"/>
            <a:ext cx="8046720" cy="685800"/>
          </a:xfrm>
          <a:prstGeom prst="roundRect">
            <a:avLst/>
          </a:prstGeom>
          <a:solidFill>
            <a:srgbClr val="E7F6EE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21408" y="5486400"/>
            <a:ext cx="54864" cy="41148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04288" y="5513831"/>
            <a:ext cx="7589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1C32"/>
                </a:solidFill>
                <a:latin typeface="Aptos"/>
              </a:rPr>
              <a:t>Why it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5916168"/>
            <a:ext cx="7589520" cy="-9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272F3E"/>
                </a:solidFill>
                <a:latin typeface="Aptos"/>
              </a:rPr>
              <a:t>The database automatically updates stock after an order item is inserted, reducing manual stock updates.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5. End-to-End Workflow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How data moves through the platform and what the system can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1508760" cy="658368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Selects product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56231" y="1655064"/>
            <a:ext cx="310897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1325880"/>
            <a:ext cx="1508760" cy="658368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Stores item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76472" y="1655064"/>
            <a:ext cx="310896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1325880"/>
            <a:ext cx="1508760" cy="658368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Creates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96712" y="1655064"/>
            <a:ext cx="310896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325880"/>
            <a:ext cx="1508760" cy="658368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Records payment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6952" y="1655064"/>
            <a:ext cx="310896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1325880"/>
            <a:ext cx="1508760" cy="658368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Trigger updates stock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37192" y="1655064"/>
            <a:ext cx="310896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325880"/>
            <a:ext cx="1508760" cy="658368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399032"/>
            <a:ext cx="1362456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075688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56F80"/>
                </a:solidFill>
                <a:latin typeface="Aptos"/>
              </a:rPr>
              <a:t>Tracks shipment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2697480"/>
            <a:ext cx="1051560" cy="34747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715768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PENDING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57400" y="2871216"/>
            <a:ext cx="365760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87168" y="2697480"/>
            <a:ext cx="1234440" cy="34747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32888" y="2715768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CONFIRMED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67328" y="2871216"/>
            <a:ext cx="365759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0" y="2697480"/>
            <a:ext cx="1051560" cy="34747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59" y="2715768"/>
            <a:ext cx="9601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SHIPPED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0" y="2871216"/>
            <a:ext cx="365760" cy="0"/>
          </a:xfrm>
          <a:prstGeom prst="line">
            <a:avLst/>
          </a:prstGeom>
          <a:ln w="16510">
            <a:solidFill>
              <a:srgbClr val="65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742432" y="2697480"/>
            <a:ext cx="1143000" cy="34747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88152" y="2715768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DELIVERED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2560320"/>
            <a:ext cx="2011680" cy="1005840"/>
          </a:xfrm>
          <a:prstGeom prst="roundRect">
            <a:avLst/>
          </a:prstGeom>
          <a:solidFill>
            <a:srgbClr val="E8EFFC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24927" y="2697479"/>
            <a:ext cx="54864" cy="731520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7808" y="27249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Sales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312724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72F3E"/>
                </a:solidFill>
                <a:latin typeface="Aptos"/>
              </a:rPr>
              <a:t>Orders + total sales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2560320"/>
            <a:ext cx="2011680" cy="1005840"/>
          </a:xfrm>
          <a:prstGeom prst="roundRect">
            <a:avLst/>
          </a:prstGeom>
          <a:solidFill>
            <a:srgbClr val="E6F7F8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65207" y="2697479"/>
            <a:ext cx="54864" cy="731520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48088" y="2724912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Top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48088" y="3127248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72F3E"/>
                </a:solidFill>
                <a:latin typeface="Aptos"/>
              </a:rPr>
              <a:t>Demand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3767328"/>
            <a:ext cx="2011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24927" y="3904488"/>
            <a:ext cx="54864" cy="731520"/>
          </a:xfrm>
          <a:prstGeom prst="roundRect">
            <a:avLst/>
          </a:prstGeom>
          <a:solidFill>
            <a:srgbClr val="CB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07808" y="39319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Low Stock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7808" y="433425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72F3E"/>
                </a:solidFill>
                <a:latin typeface="Aptos"/>
              </a:rPr>
              <a:t>Replenishment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5480" y="3767328"/>
            <a:ext cx="2011680" cy="1005840"/>
          </a:xfrm>
          <a:prstGeom prst="roundRect">
            <a:avLst/>
          </a:prstGeom>
          <a:solidFill>
            <a:srgbClr val="EFEAFA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65207" y="3904488"/>
            <a:ext cx="54864" cy="73152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8088" y="3931920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Ratings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8088" y="4334256"/>
            <a:ext cx="1554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72F3E"/>
                </a:solidFill>
                <a:latin typeface="Aptos"/>
              </a:rPr>
              <a:t>Customer feedback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977639"/>
            <a:ext cx="6080760" cy="1600200"/>
          </a:xfrm>
          <a:prstGeom prst="roundRect">
            <a:avLst/>
          </a:prstGeom>
          <a:solidFill>
            <a:srgbClr val="E7F6EE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9808" y="4114800"/>
            <a:ext cx="54864" cy="132588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4142231"/>
            <a:ext cx="5623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C32"/>
                </a:solidFill>
                <a:latin typeface="Aptos"/>
              </a:rPr>
              <a:t>Accuracy of Results — What to Demonstrate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" y="4544568"/>
            <a:ext cx="5623560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72F3E"/>
                </a:solidFill>
                <a:latin typeface="Aptos"/>
              </a:rPr>
              <a:t>• Correct CRUD operations  • Correct relationships  • Correct order status flow  • Correct automatic stock decrease  • Correct report generation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806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56F80"/>
                </a:solidFill>
                <a:latin typeface="Aptos"/>
              </a:rPr>
              <a:t>Payment methods: Card • UPI • NetBanking • COD • Wallet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C32"/>
                </a:solidFill>
                <a:latin typeface="Aptos"/>
              </a:rPr>
              <a:t>6. Innovation, Sustainability &amp; Social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6F80"/>
                </a:solidFill>
                <a:latin typeface="Aptos"/>
              </a:rPr>
              <a:t>The points that directly support the evaluation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828800"/>
          </a:xfrm>
          <a:prstGeom prst="roundRect">
            <a:avLst/>
          </a:prstGeom>
          <a:solidFill>
            <a:srgbClr val="E8EFFC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54864" cy="1554480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INNOVATIVE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01368"/>
            <a:ext cx="306324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• Inventory trigger for automatic stock update
• Connected order → payment → delivery flow
• JWT protected admin dashboard
• Reports from centralized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234440"/>
            <a:ext cx="3520440" cy="1828800"/>
          </a:xfrm>
          <a:prstGeom prst="roundRect">
            <a:avLst/>
          </a:prstGeom>
          <a:solidFill>
            <a:srgbClr val="E7F6EE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3984" y="1371600"/>
            <a:ext cx="54864" cy="1554480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3990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SUSTAINABLE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801368"/>
            <a:ext cx="306324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• Digital records reduce paper/manual duplication
• Better stock visibility can reduce avoidable over-ordering
• Centralized data reduces repeated entry and rework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234440"/>
            <a:ext cx="3520440" cy="1828800"/>
          </a:xfrm>
          <a:prstGeom prst="roundRect">
            <a:avLst/>
          </a:prstGeom>
          <a:solidFill>
            <a:srgbClr val="EFEAFA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54864" cy="1554480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9903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C32"/>
                </a:solidFill>
                <a:latin typeface="Aptos"/>
              </a:rPr>
              <a:t>UTILITY TO SOCIETY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01368"/>
            <a:ext cx="306324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72F3E"/>
                </a:solidFill>
                <a:latin typeface="Aptos"/>
              </a:rPr>
              <a:t>• Helps small and medium retailers organize operations
• Faster access to stock and order information
• Better tracking supports customer service
• Reports support better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FUTURE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920240" cy="34747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9592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Customer 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1920240" cy="34747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99592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Online payment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977639"/>
            <a:ext cx="1920240" cy="34747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99592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977639"/>
            <a:ext cx="1920240" cy="34747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99592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Advanced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977639"/>
            <a:ext cx="1920240" cy="34747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3995927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Cloud 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1C32"/>
                </a:solidFill>
                <a:latin typeface="Aptos"/>
              </a:rPr>
              <a:t>RUBRIC COVERAGE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303520"/>
            <a:ext cx="1783080" cy="530352"/>
          </a:xfrm>
          <a:prstGeom prst="roundRect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04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303520"/>
            <a:ext cx="1783080" cy="530352"/>
          </a:xfrm>
          <a:prstGeom prst="roundRect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5404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Technical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5303520"/>
            <a:ext cx="1783080" cy="530352"/>
          </a:xfrm>
          <a:prstGeom prst="roundRect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5404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5303520"/>
            <a:ext cx="1783080" cy="530352"/>
          </a:xfrm>
          <a:prstGeom prst="roundRect">
            <a:avLst/>
          </a:prstGeom>
          <a:solidFill>
            <a:srgbClr val="E78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5404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Society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5303520"/>
            <a:ext cx="1783080" cy="530352"/>
          </a:xfrm>
          <a:prstGeom prst="roundRect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5404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98932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6F80"/>
                </a:solidFill>
                <a:latin typeface="Aptos"/>
              </a:rPr>
              <a:t>Presentation marks come from clear explanation, confidence, timing and viva answers.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6F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DBF4"/>
                </a:solidFill>
                <a:latin typeface="Aptos"/>
              </a:rPr>
              <a:t>A secure, normalized and connected DBMS for online retail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2560320" cy="1508760"/>
          </a:xfrm>
          <a:prstGeom prst="roundRect">
            <a:avLst/>
          </a:prstGeom>
          <a:solidFill>
            <a:srgbClr val="1D2B46"/>
          </a:solidFill>
          <a:ln>
            <a:solidFill>
              <a:srgbClr val="3D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331720"/>
            <a:ext cx="502920" cy="502920"/>
          </a:xfrm>
          <a:prstGeom prst="ellipse">
            <a:avLst/>
          </a:prstGeom>
          <a:solidFill>
            <a:srgbClr val="2C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10128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BECAE1"/>
                </a:solidFill>
                <a:latin typeface="Aptos"/>
              </a:rPr>
              <a:t>3NF • PK/FK • constraints •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48840"/>
            <a:ext cx="2560320" cy="1508760"/>
          </a:xfrm>
          <a:prstGeom prst="roundRect">
            <a:avLst/>
          </a:prstGeom>
          <a:solidFill>
            <a:srgbClr val="1D2B46"/>
          </a:solidFill>
          <a:ln>
            <a:solidFill>
              <a:srgbClr val="3D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70831" y="2331720"/>
            <a:ext cx="502920" cy="502920"/>
          </a:xfrm>
          <a:prstGeom prst="ellipse">
            <a:avLst/>
          </a:prstGeom>
          <a:solidFill>
            <a:srgbClr val="6F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97180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310128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BECAE1"/>
                </a:solidFill>
                <a:latin typeface="Aptos"/>
              </a:rPr>
              <a:t>JWT • bcryptjs • protected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148840"/>
            <a:ext cx="2560320" cy="1508760"/>
          </a:xfrm>
          <a:prstGeom prst="roundRect">
            <a:avLst/>
          </a:prstGeom>
          <a:solidFill>
            <a:srgbClr val="1D2B46"/>
          </a:solidFill>
          <a:ln>
            <a:solidFill>
              <a:srgbClr val="3D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87183" y="2331720"/>
            <a:ext cx="502920" cy="502920"/>
          </a:xfrm>
          <a:prstGeom prst="ellipse">
            <a:avLst/>
          </a:prstGeom>
          <a:solidFill>
            <a:srgbClr val="21A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97180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310128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BECAE1"/>
                </a:solidFill>
                <a:latin typeface="Aptos"/>
              </a:rPr>
              <a:t>Cart → Order → Payment →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48840"/>
            <a:ext cx="2560320" cy="1508760"/>
          </a:xfrm>
          <a:prstGeom prst="roundRect">
            <a:avLst/>
          </a:prstGeom>
          <a:solidFill>
            <a:srgbClr val="1D2B46"/>
          </a:solidFill>
          <a:ln>
            <a:solidFill>
              <a:srgbClr val="3D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03536" y="2331720"/>
            <a:ext cx="502920" cy="502920"/>
          </a:xfrm>
          <a:prstGeom prst="ellipse">
            <a:avLst/>
          </a:prstGeom>
          <a:solidFill>
            <a:srgbClr val="2D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2971800"/>
            <a:ext cx="2231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3310128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>
                <a:solidFill>
                  <a:srgbClr val="BECAE1"/>
                </a:solidFill>
                <a:latin typeface="Aptos"/>
              </a:rPr>
              <a:t>Reports • tracking • less manual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DB8"/>
                </a:solidFill>
                <a:latin typeface="Aptos"/>
              </a:rPr>
              <a:t>What we achieved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Centralized data  •  Reliable relationships  •  Automatic inventory update  •  Useful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21ADB8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ECAE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37392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8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Online Retail and Order Management Platform</dc:title>
  <dc:subject>DBMS Project Presentation - 8 Slides - Rubric Aligned</dc:subject>
  <dc:creator>G Sri Harini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